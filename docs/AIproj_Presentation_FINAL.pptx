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Times New Roman"/>
              </a:rPr>
              <a:t>mAP@50 per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mAP@50 by class</c:v>
                </c:pt>
              </c:strCache>
            </c:strRef>
          </c:tx>
          <c:spPr>
            <a:solidFill>
              <a:srgbClr val="22222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382-1746-9A3C-7C63EF392147}"/>
              </c:ext>
            </c:extLst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82-1746-9A3C-7C63EF392147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82-1746-9A3C-7C63EF392147}"/>
              </c:ext>
            </c:extLst>
          </c:dPt>
          <c:dPt>
            <c:idx val="3"/>
            <c:invertIfNegative val="0"/>
            <c:bubble3D val="0"/>
            <c:spPr>
              <a:solidFill>
                <a:srgbClr val="8888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82-1746-9A3C-7C63EF392147}"/>
              </c:ext>
            </c:extLst>
          </c:dPt>
          <c:dPt>
            <c:idx val="4"/>
            <c:invertIfNegative val="0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82-1746-9A3C-7C63EF39214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00000"/>
                    </a:solidFill>
                    <a:latin typeface="Times New Roman"/>
                  </a:defRPr>
                </a:pPr>
                <a:endParaRPr lang="en-A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Ambulance</c:v>
                </c:pt>
                <c:pt idx="1">
                  <c:v>Bus</c:v>
                </c:pt>
                <c:pt idx="2">
                  <c:v>Car</c:v>
                </c:pt>
                <c:pt idx="3">
                  <c:v>Motorcycle</c:v>
                </c:pt>
                <c:pt idx="4">
                  <c:v>Truck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0.80400000000000005</c:v>
                </c:pt>
                <c:pt idx="1">
                  <c:v>0.83599999999999997</c:v>
                </c:pt>
                <c:pt idx="2">
                  <c:v>0.51400000000000001</c:v>
                </c:pt>
                <c:pt idx="3">
                  <c:v>0.72499999999999998</c:v>
                </c:pt>
                <c:pt idx="4">
                  <c:v>0.504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82-1746-9A3C-7C63EF39214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7F7F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339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SWS405 – Applied Artificial Intelligence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YOLOv8-Based Object Detection System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Traffic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Rashed Abdulla Alzeyoudi 202300003336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13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Ahmed </a:t>
            </a:r>
            <a:r>
              <a:rPr lang="en-US" sz="1200" dirty="0" err="1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Aljanahi</a:t>
            </a: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20210001364</a:t>
            </a:r>
            <a:r>
              <a:rPr lang="en-AE" sz="1200" dirty="0"/>
              <a:t>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60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Khalid Almarri 2020001899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08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Mershad</a:t>
            </a: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Ahani 20220002469</a:t>
            </a: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4114800" cy="338328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93776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Snapshot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66560" y="2011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YOLOv8n (nano)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4140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41401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vehicle types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8163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81635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32186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images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32186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6210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instances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62102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4,102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0233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mAP@50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40233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object detection?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detection finds what objects are in an image and where they are. Unlike classification, which gives one label to a whole image, detection draws bounding boxes around individual objects and labels each one. That makes it useful for traffic monitoring, surveillance, and autonomous vehicles.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YOLO?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23113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 (You Only Look Once) treats detection as a single regression in one forward pass, making it far faster than two-stage methods like Faster R-CNN that first generate region proposals and then classify them. YOLOv8 is the latest and most accurate version of this family.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96265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aim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25526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 traffic object detection system using YOLOv8n trained on a custom dataset of 880 images covering five vehicle classes: Ambulance, Bus, Car, Motorcycle, and Truck. Evaluate with Precision, Recall, mAP@50, mAP@50-95, and per-class confusion matrix.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9867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Accurate, real-time vehicle detection supports smart city traffic management, emergency vehicle prioritisation, road safety monitoring, and autonomous driving systems. A fast, lightweight model like YOLOv8n makes this viable on accessible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methods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96926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Pre-2014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Haar cascades, HOG, DPM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(Viola &amp; Jones, 2001; Dalal &amp; Triggs, 2005)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Handcrafted features. Brittle to lighting and scale changes.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850392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Two-stage detectors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9933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2014–2017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30428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R-CNN → Fast R-CNN → Faster R-CNN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(Girshick et al., 2014; Ren et al., 2017)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30428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accuracy but slow. Two-stage pipeline limits throughput.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944368"/>
            <a:ext cx="850392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57200" y="3017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Single-stage detectors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017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2016–2020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2841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SSD, YOLOv1–v4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(Liu et al., 2016; Redmon et al., 2016; Bochkovskiy et al., 2020)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332841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and accurate. YOLO predicts boxes in one pass.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968496"/>
            <a:ext cx="8503920" cy="89611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9"/>
          <p:cNvSpPr/>
          <p:nvPr/>
        </p:nvSpPr>
        <p:spPr>
          <a:xfrm>
            <a:off x="457200" y="40416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35254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Anchor-free head, improved FPN,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Distribution Focal Loss (Jocher et al., 2023)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435254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state of the art. Selected for this project.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5029200"/>
            <a:ext cx="8503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images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82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(80%)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Validation (20%)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103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classes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52374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443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instances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4,102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 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51760" y="33649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~2,742 (66.8%)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914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2618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Ambulance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60934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Bus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1956816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3042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Motorcycle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Truck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09067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Annotation &amp; preparation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4198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Tool: Roboflow (bounding box annotation, format export, versioning)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7673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Format: YOLO — normalised bbox coordinates + class IDs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148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Variety: multiple angles, lighting conditions, weather, distances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4622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Augmentation: flip, rotation, brightness, Gaussian blur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956048"/>
            <a:ext cx="8503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0" name="Text 28"/>
          <p:cNvSpPr/>
          <p:nvPr/>
        </p:nvSpPr>
        <p:spPr>
          <a:xfrm>
            <a:off x="320040" y="4631436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imbalance: Car accounts for ~66.8% of all instances. This likely biases the model toward Car predictions and reduces performance on minority classes.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Methodology: Model Selection and Justification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96112"/>
          <a:ext cx="8869680" cy="147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Inference speed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Real-time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Anchor-free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Selected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Faster R-CNN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Two-stage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Slow (~100-200ms)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SSD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Fast (~10ms)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RetinaNet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Moderate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Partial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55555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YOLOv8n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Very fast (~1-5ms)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365760" y="3017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YOLOv8n was selected: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3364992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Anchor-free detection head: no need to predefine anchor sizes, better generalisation to varying object scales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37124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Improved feature pyramid network: aggregates multi-scale features, helps detect objects at different distances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05993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Distribution Focal Loss (DFL): models bounding box coordinate distributions for more precise localisation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4407408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Ultralytics API: clean, well-documented framework that reduces implementation complexity significantly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75488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Nano variant: lightweight enough to train on Google Colab and deploy on edge hardware (Jetson Nano)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Setup and Hyperparameters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Epochs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run (30-epoch preliminary run discarded)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91440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401568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 size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01568" y="12984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640 × 640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01568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Balance between detection quality and compute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91440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345936" y="1024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45936" y="129844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45936" y="17556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 memory efficient on Tesla T4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37744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57200" y="2487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61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AdamW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Automatically selected by Ultralytics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237744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3401568" y="2487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GPU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2761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Tesla T4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01568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Colab, free-tier GPU environment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2377440"/>
            <a:ext cx="2743200" cy="1298448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6" name="Text 24"/>
          <p:cNvSpPr/>
          <p:nvPr/>
        </p:nvSpPr>
        <p:spPr>
          <a:xfrm>
            <a:off x="6345936" y="24871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Framework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45936" y="276148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Ultralytics YOLOv8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45936" y="32186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API, handles training loop end-to-end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931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Loss functions: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426110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Bounding box regression loss (CIoU): measures how accurately predicted boxes align with ground truth annotations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Classification loss (Binary Cross-Entropy): penalises incorrect class label predictions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8828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Distribution Focal Loss (DFL): improves localisation by modelling the distribution of possible box coordinate values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96926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 / (TP + FP)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fraction of all positive predictions that are actually correct. High precision means few false alarms — the model rarely detects objects that are not there.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19072"/>
            <a:ext cx="85039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17922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 / (TP + FN)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fraction of all real objects in the scene that the model successfully detected. High recall means few missed detections.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42032"/>
            <a:ext cx="85039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57200" y="261518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6151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AP at IoU ≥ 0.5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8895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primary benchmark. Averages the area under the precision-recall curve across all five classes at a standard detection threshold. Our main reported metric.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64992"/>
            <a:ext cx="85039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457200" y="34381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mAP@50-95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4381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AP, IoU 0.5 to 0.95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stricter version that averages across ten IoU thresholds. Penalises boxes that are correct in class but imprecise in position. Always lower than mAP@50.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187952"/>
            <a:ext cx="8503920" cy="713232"/>
          </a:xfrm>
          <a:prstGeom prst="rect">
            <a:avLst/>
          </a:prstGeom>
          <a:solidFill>
            <a:srgbClr val="F7F7F7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2" name="Text 20"/>
          <p:cNvSpPr/>
          <p:nvPr/>
        </p:nvSpPr>
        <p:spPr>
          <a:xfrm>
            <a:off x="457200" y="426110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42611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classification table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53542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Shows which classes are confused with which. Diagonal = correct predictions. Off-diagonal = misclassifications. Used for per-class error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Overall Performance Results — 50-Epoch Final Run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0.676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benchmark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6312" y="914400"/>
            <a:ext cx="201168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2496312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~0.72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96312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96312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72% of detections correct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72584" y="914400"/>
            <a:ext cx="201168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4672584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~0.59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672584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72584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59% of real objects found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48856" y="914400"/>
            <a:ext cx="2011680" cy="150876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6"/>
          <p:cNvSpPr/>
          <p:nvPr/>
        </p:nvSpPr>
        <p:spPr>
          <a:xfrm>
            <a:off x="6848856" y="10058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~0.48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664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mAP@50-95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48856" y="19659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Strict IoU metric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320040" y="2606040"/>
          <a:ext cx="8503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Performance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96112"/>
          <a:ext cx="8503920" cy="2733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Class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Precision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Recall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mAP@50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mAP@50-95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Notes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Ambulance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0.846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0.677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Best: distinctive shape and markings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0.710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0.712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0.836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0.556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mAP@50: consistent across angles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0.645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0.492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0.514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0.373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Weak: dominant class, visually similar to Truck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Motorcycle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0.698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0.455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0.725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0.309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 recall: small object size, frequent misses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Truck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0.628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0.458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0.504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0.398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Weak: confused with Car and Bus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Overall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~0.72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~0.59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0.676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~0.48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50-epoch final run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76200" marR="76200" marT="63500" marB="6350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136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observations: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65760" y="424281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Ambulance and Bus perform best because they have visually distinctive features that separate them from other classes.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55371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Car and Truck are the weakest: they share rectangular shapes and the Car class dominates the training data at 66.8%.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Motorcycle achieves reasonable mAP@50 but has low recall (0.455) because motorcycles are physically small in traffic images.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Confusion Matrix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914400"/>
            <a:ext cx="4572000" cy="3977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7492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matrix shows: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492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Ambulance and Bus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74920" y="1627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Well separated. High diagonal values confirm reliable classification.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4920" y="2029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 and Truck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230428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confusion pair. Similar rectangular shapes at common camera angles.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706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 and Truck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74920" y="298094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Secondary confusion pair. Both large vehicles with overlapping profiles.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4920" y="3383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Motorcycle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36576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background column: many real motorcycles not detected at all.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4059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74920" y="43342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imbalance (Car at 66.8%) + visual similarity between heavy vehicles.</a:t>
            </a:r>
            <a:endParaRPr lang="en-US" sz="1100" dirty="0"/>
          </a:p>
        </p:txBody>
      </p:sp>
      <p:pic>
        <p:nvPicPr>
          <p:cNvPr id="19" name="Picture 1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5000669-C672-4961-2192-7E5D4574E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339" y="1031248"/>
            <a:ext cx="4670377" cy="35107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Examples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43200" cy="2286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[]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5. Best single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5661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Ambulance detected at 0.98 confidence with a tight bounding box. Shows strong performance on clear, unoccluded objects.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896112"/>
            <a:ext cx="2743200" cy="2286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8"/>
          <p:cNvSpPr/>
          <p:nvPr/>
        </p:nvSpPr>
        <p:spPr>
          <a:xfrm>
            <a:off x="3291840" y="896112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6. Multi-object scene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35661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Multiple vehicles detected simultaneously with correct labels. Confidence scores drop slightly in crowded scenes with partial overlap.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896112"/>
            <a:ext cx="2743200" cy="22860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2"/>
          <p:cNvSpPr/>
          <p:nvPr/>
        </p:nvSpPr>
        <p:spPr>
          <a:xfrm>
            <a:off x="6263640" y="896112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Figure 7. Misclassification example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63640" y="35661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vehicle labelled incorrectly, e.g. a truck predicted as a bus, consistent with the confusion matrix Car/Truck/Bus confusion.</a:t>
            </a:r>
            <a:endParaRPr lang="en-US" sz="1000" dirty="0"/>
          </a:p>
        </p:txBody>
      </p:sp>
      <p:pic>
        <p:nvPicPr>
          <p:cNvPr id="18" name="Picture 17" descr="A group of ambulances parked in a parking lot&#10;&#10;AI-generated content may be incorrect.">
            <a:extLst>
              <a:ext uri="{FF2B5EF4-FFF2-40B4-BE49-F238E27FC236}">
                <a16:creationId xmlns:a16="http://schemas.microsoft.com/office/drawing/2014/main" id="{8C50DC8C-3B55-DEAE-8B1A-CB45F724E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456" y="896112"/>
            <a:ext cx="2286000" cy="2286000"/>
          </a:xfrm>
          <a:prstGeom prst="rect">
            <a:avLst/>
          </a:prstGeom>
        </p:spPr>
      </p:pic>
      <p:pic>
        <p:nvPicPr>
          <p:cNvPr id="20" name="Picture 19" descr="A group of vehicles in a parking lot&#10;&#10;AI-generated content may be incorrect.">
            <a:extLst>
              <a:ext uri="{FF2B5EF4-FFF2-40B4-BE49-F238E27FC236}">
                <a16:creationId xmlns:a16="http://schemas.microsoft.com/office/drawing/2014/main" id="{978DE5DE-1992-F891-724D-41FBBD99DF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1810" y="928116"/>
            <a:ext cx="2286000" cy="2286000"/>
          </a:xfrm>
          <a:prstGeom prst="rect">
            <a:avLst/>
          </a:prstGeom>
        </p:spPr>
      </p:pic>
      <p:pic>
        <p:nvPicPr>
          <p:cNvPr id="22" name="Picture 21" descr="A car driving on a road&#10;&#10;AI-generated content may be incorrect.">
            <a:extLst>
              <a:ext uri="{FF2B5EF4-FFF2-40B4-BE49-F238E27FC236}">
                <a16:creationId xmlns:a16="http://schemas.microsoft.com/office/drawing/2014/main" id="{9E4AD32C-773A-BCE8-9382-D1BB6E33F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8653" y="1385316"/>
            <a:ext cx="2718187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Ethical Reflection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85039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9692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Fairness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Issue: class imbalance creates unequal detection performance. Motorcycles are missed far more than cars.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0" y="1261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Impact: in a real system, motorcycle incidents would be underreported, disadvantaging that group of road users.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0" y="126187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Mitigation: deliberate dataset balancing and per-class performance auditing before any deployment.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31136"/>
            <a:ext cx="85039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Accountability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59689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Issue: if an ambulance is misclassified as a truck, an emergency corridor might not activate in time.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59689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Impact: automated decisions with safety implications require clear responsibility chains — a model cannot be a black box.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0" y="259689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Mitigation: human oversight for safety-critical decisions; model operates in advisory mode only.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566160"/>
            <a:ext cx="8503920" cy="11887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Transparency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9319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Issue: users may over-trust confidence scores and not understand where the model fails.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39319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Impact: low-confidence predictions can mislead operators who rely on the output without understanding its limits.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393192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Mitigation: publish confusion matrix, share per-class analysis, apply Grad-CAM visualisations to explain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Implementation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Cloud: NVIDIA T4 / A10G — 30 to 60 fps with YOLOv8n.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Edge: Jetson Nano (4GB) — 15 to 25 fps, sufficient for traffic monitoring.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Optimise with TensorRT or ONNX export for lower latency.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605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7"/>
          <p:cNvSpPr/>
          <p:nvPr/>
        </p:nvSpPr>
        <p:spPr>
          <a:xfrm>
            <a:off x="489204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132588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 to existing CCTV RTSP streams.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 detections to a traffic management dashboard in real time.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Could activate emergency vehicle corridors on Ambulance detection.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926080"/>
            <a:ext cx="41605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Privacy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face or licence plate capture — compliant with data minimisation.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processing without persistent video storage.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 restricted; data retention policy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2926080"/>
            <a:ext cx="4160520" cy="1828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3"/>
          <p:cNvSpPr/>
          <p:nvPr/>
        </p:nvSpPr>
        <p:spPr>
          <a:xfrm>
            <a:off x="489204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to fix before deployment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337560"/>
            <a:ext cx="3840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Car/Truck confusion must be reduced via more balanced data.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Night-time and adverse-weather evaluation not yet done.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 positive rate under real conditions not yet characterised.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review required before any autonomous operation.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was achieved: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Complete end-to-end pipeline: custom dataset, annotation with Roboflow, 50-epoch training, evaluation, and inference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YOLOv8n trained on 880 images across 5 vehicle classes using Google Colab with Tesla T4 GPU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Final mAP@50 = 0.676, Precision ~0.72, Recall ~0.59 — solid baseline for a student project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942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Full per-class confusion matrix analysis identifying specific failure modes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Ethical reflection covering fairness, accountability, and transparency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Real-world deployment analysis covering hardware, privacy, and current limitations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401568"/>
            <a:ext cx="850392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11"/>
          <p:cNvSpPr/>
          <p:nvPr/>
        </p:nvSpPr>
        <p:spPr>
          <a:xfrm>
            <a:off x="365760" y="35112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directions: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37581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Expand and balance the dataset — primary bottleneck for performance improvement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995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Test larger YOLOv8 variants (small, medium, large) to assess accuracy gains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265676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Evaluate on night-time and adverse-weather images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53542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Add multi-object tracking (BoT-SORT or ByteTrack) for video applications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7411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Optimise for edge deployment using TensorRT or ONNX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1B1B"/>
          </a:solidFill>
          <a:ln w="12700">
            <a:solidFill>
              <a:srgbClr val="1B1B1B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503920" y="1645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Bochkovskiy, A., Wang, C. Y., &amp; Liao, H. Y. M. (2020). YOLOv4: Optimal speed and accuracy of object detection. arXiv:2004.10934.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Bradski, G. (2000). The OpenCV library. Dr. Dobb's Journal of Software Tools.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505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Dalal, N., &amp; Triggs, B. (2005). Histograms of oriented gradients for human detection. CVPR, 886–893.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Girshick, R. (2015). Fast R-CNN. ICCV, 1440–1448.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Girshick, R., Donahue, J., Darrell, T., &amp; Malik, J. (2014). Rich feature hierarchies for accurate object detection. CVPR, 580–587.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46320" y="932688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Jocher, G., Chaurasia, A., &amp; Qiu, J. (2023). Ultralytics YOLOv8. https://github.com/ultralytics/ultralytics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71907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Liu, W., et al. (2016). SSD: Single shot multibox detector. ECCV, 21–37.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46320" y="2505456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Redmon, J., Divvala, S., Girshick, R., &amp; Farhadi, A. (2016). You only look once: Unified, real-time object detection. CVPR, 779–788.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Ren, S., He, K., Girshick, R., &amp; Sun, J. (2017). Faster R-CNN: Towards real-time object detection with RPNs. IEEE TPAMI, 39(6), 1137–1149.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4078224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Viola, P., &amp; Jones, M. (2001). Rapid object detection using a boosted cascade of simple features. CVPR, 511–518.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2060</Words>
  <Application>Microsoft Macintosh PowerPoint</Application>
  <PresentationFormat>On-screen Show (16:9)</PresentationFormat>
  <Paragraphs>320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YOLOv8-Based Object Detection System for Traffic Analysis</dc:title>
  <dc:subject>PptxGenJS Presentation</dc:subject>
  <dc:creator>PptxGenJS</dc:creator>
  <cp:lastModifiedBy>rashed abdulla</cp:lastModifiedBy>
  <cp:revision>2</cp:revision>
  <dcterms:created xsi:type="dcterms:W3CDTF">2026-04-25T20:48:01Z</dcterms:created>
  <dcterms:modified xsi:type="dcterms:W3CDTF">2026-04-26T13:35:46Z</dcterms:modified>
</cp:coreProperties>
</file>